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dati.comune.milano.it/dataset/ds2832-quotazioni-immobiliari-omi-compravendita-semestre-2024-1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dati.comune.milano.it/dataset/ds2832-quotazioni-immobiliari-omi-compravendita-semestre-2024-1" TargetMode="External"/><Relationship Id="rId2" Type="http://schemas.openxmlformats.org/officeDocument/2006/relationships/hyperlink" Target="https://dati.comune.milano.it/dataset/ds2833-quotazioni-immobiliari-omi-locazione-semestre-2024-1" TargetMode="External"/><Relationship Id="rId3" Type="http://schemas.openxmlformats.org/officeDocument/2006/relationships/hyperlink" Target="https://www1.agenziaentrate.gov.it/servizi/geopoi_omi/index.php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ati.comune.milano.it/dataset/ds2832-quotazioni-immobiliari-omi-compravendita-semestre-2024-1" TargetMode="Externa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ati.comune.milano.it/dataset/ds2832-quotazioni-immobiliari-omi-compravendita-semestre-2024-1" TargetMode="Externa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ati.comune.milano.it/dataset/ds2832-quotazioni-immobiliari-omi-compravendita-semestre-2024-1" TargetMode="Externa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533"/>
          </a:solidFill>
          <a:ln w="12700">
            <a:solidFill>
              <a:srgbClr val="1B25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" y="0"/>
            <a:ext cx="164592" cy="685800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MARKET ANALYSIS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Milan Housing</a:t>
            </a:r>
            <a:endParaRPr lang="en-US" sz="5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Analysis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3520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Dynamics, Rent Yields &amp; Zone Distribution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4069080"/>
            <a:ext cx="7772400" cy="0"/>
          </a:xfrm>
          <a:prstGeom prst="line">
            <a:avLst/>
          </a:prstGeom>
          <a:noFill/>
          <a:ln w="15240">
            <a:solidFill>
              <a:srgbClr val="3A4D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1605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Data: </a:t>
            </a:r>
            <a:pPr indent="0" marL="0">
              <a:buNone/>
            </a:pPr>
            <a:r>
              <a:rPr lang="en-US" sz="1000" u="sng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OMI — Osservatorio del Mercato Immobiliare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5262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Period: 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H1 2024   </a:t>
            </a:r>
            <a:pPr indent="0" marL="0">
              <a:buNone/>
            </a:pPr>
            <a:r>
              <a:rPr lang="en-US" sz="10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Zones: 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39 residential zones   </a:t>
            </a:r>
            <a:pPr indent="0" marL="0">
              <a:buNone/>
            </a:pPr>
            <a:r>
              <a:rPr lang="en-US" sz="10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License: 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BY 4.0 (open data)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6217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mhmd gholami   |   Milan, 2024   |   github.com/mhmdgholami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9235440" y="1508760"/>
            <a:ext cx="2560320" cy="621792"/>
          </a:xfrm>
          <a:prstGeom prst="rect">
            <a:avLst/>
          </a:prstGeom>
          <a:solidFill>
            <a:srgbClr val="243044"/>
          </a:solidFill>
          <a:ln w="19050">
            <a:solidFill>
              <a:srgbClr val="76B7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0" y="153619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6B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326880" y="189280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Analyzed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235440" y="2221992"/>
            <a:ext cx="2560320" cy="621792"/>
          </a:xfrm>
          <a:prstGeom prst="rect">
            <a:avLst/>
          </a:prstGeom>
          <a:solidFill>
            <a:srgbClr val="243044"/>
          </a:solidFill>
          <a:ln w="19050">
            <a:solidFill>
              <a:srgbClr val="F28E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0" y="224942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€9,150/m²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326880" y="2606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Price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235440" y="2935224"/>
            <a:ext cx="2560320" cy="621792"/>
          </a:xfrm>
          <a:prstGeom prst="rect">
            <a:avLst/>
          </a:prstGeom>
          <a:solidFill>
            <a:srgbClr val="243044"/>
          </a:solidFill>
          <a:ln w="19050">
            <a:solidFill>
              <a:srgbClr val="59A1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0" y="296265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9A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326880" y="331927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Yield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533"/>
          </a:solidFill>
          <a:ln w="12700">
            <a:solidFill>
              <a:srgbClr val="1B25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Data Sources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247120" y="9144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562356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914400"/>
            <a:ext cx="73152" cy="242316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4241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4E7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78992" y="1060704"/>
            <a:ext cx="47091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— Official Open Data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572768"/>
            <a:ext cx="5257800" cy="0"/>
          </a:xfrm>
          <a:prstGeom prst="line">
            <a:avLst/>
          </a:prstGeom>
          <a:noFill/>
          <a:ln w="10160">
            <a:solidFill>
              <a:srgbClr val="EEEE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664208"/>
            <a:ext cx="527608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Downloaded from Comune di Milano Open Data Portal (CC BY 4.0 license).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prices: DS2832 — OMI Compravendita H1 2024 (486 rows)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prices: DS2833 — OMI Locazione H1 2024 (487 rows)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Agenzia delle Entrate — Osservatorio del Mercato Immobiliare (OMI)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3566160"/>
            <a:ext cx="562356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3566160"/>
            <a:ext cx="73152" cy="242316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69417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2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78992" y="3712464"/>
            <a:ext cx="47091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Filtering — Python / Pandas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4224528"/>
            <a:ext cx="5257800" cy="0"/>
          </a:xfrm>
          <a:prstGeom prst="line">
            <a:avLst/>
          </a:prstGeom>
          <a:noFill/>
          <a:ln w="10160">
            <a:solidFill>
              <a:srgbClr val="EEEE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315968"/>
            <a:ext cx="527608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Filtered: Tipologia = "Abitazioni civili" &amp; Stato = "NORMALE". Converted Italian decimal separator (comma → dot). Computed midpoint = (min + max) / 2. Joined sale + rent on Zone code. Result: 39 zones with complete data.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63640" y="914400"/>
            <a:ext cx="562356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914400"/>
            <a:ext cx="73152" cy="2423160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104241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76B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022592" y="1060704"/>
            <a:ext cx="47091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Mapping — Agenzia delle Entrate OMI Portal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46520" y="1572768"/>
            <a:ext cx="5257800" cy="0"/>
          </a:xfrm>
          <a:prstGeom prst="line">
            <a:avLst/>
          </a:prstGeom>
          <a:noFill/>
          <a:ln w="10160">
            <a:solidFill>
              <a:srgbClr val="EEEE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1664208"/>
            <a:ext cx="527608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 zone codes (B12, C14, D20…) mapped to neighborhood names via the official Agenzia delle Entrate quotation portal.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Fascia: B = Central, C = Semi-central, D = Peripheral, E = Suburban.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63640" y="3566160"/>
            <a:ext cx="562356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63640" y="3566160"/>
            <a:ext cx="73152" cy="2423160"/>
          </a:xfrm>
          <a:prstGeom prst="rect">
            <a:avLst/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369417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59A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022592" y="3712464"/>
            <a:ext cx="47091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Visualization — Python / Matplotlib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46520" y="4224528"/>
            <a:ext cx="5257800" cy="0"/>
          </a:xfrm>
          <a:prstGeom prst="line">
            <a:avLst/>
          </a:prstGeom>
          <a:noFill/>
          <a:ln w="10160">
            <a:solidFill>
              <a:srgbClr val="EEEE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4315968"/>
            <a:ext cx="527608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annual yield = (rent × 12) / sale price × 100.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 between sale price and yield: r = −0.55.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charts at 300 DPI. Tableau 10 color palette.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0040" y="6327648"/>
            <a:ext cx="11521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Data Sources: </a:t>
            </a:r>
            <a:pPr indent="0" marL="0">
              <a:buNone/>
            </a:pPr>
            <a:r>
              <a:rPr lang="en-US" sz="850" u="sng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OMI Sale Data</a:t>
            </a:r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| </a:t>
            </a:r>
            <a:pPr indent="0" marL="0">
              <a:buNone/>
            </a:pPr>
            <a:r>
              <a:rPr lang="en-US" sz="850" u="sng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OMI Rent Data</a:t>
            </a:r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| </a:t>
            </a:r>
            <a:pPr indent="0" marL="0">
              <a:buNone/>
            </a:pPr>
            <a:r>
              <a:rPr lang="en-US" sz="850" u="sng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Zone Names (Agenzia Entrate)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B2533"/>
          </a:solidFill>
          <a:ln w="12700">
            <a:solidFill>
              <a:srgbClr val="1B25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10515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15 Zones by Sale Price — OMI Milano H1 2024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247120" y="73152"/>
            <a:ext cx="822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1100" dirty="0"/>
          </a:p>
        </p:txBody>
      </p:sp>
      <p:pic>
        <p:nvPicPr>
          <p:cNvPr id="6" name="Image 0" descr="/home/user/workspace/tbl_chart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804672"/>
            <a:ext cx="11795760" cy="57424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533"/>
          </a:solidFill>
          <a:ln w="12700">
            <a:solidFill>
              <a:srgbClr val="1B25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6601968"/>
            <a:ext cx="11612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Source: </a:t>
            </a:r>
            <a:pPr indent="0" marL="0">
              <a:buNone/>
            </a:pPr>
            <a:r>
              <a:rPr lang="en-US" sz="750" u="sng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OMI — Comune di Milano Open Data (CC BY 4.0)</a:t>
            </a:r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| H1 2024 | Abitazioni Civili, Stato NORMALE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B2533"/>
          </a:solidFill>
          <a:ln w="12700">
            <a:solidFill>
              <a:srgbClr val="1B25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10515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Price vs Monthly Rent by Zone Category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247120" y="73152"/>
            <a:ext cx="822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1100" dirty="0"/>
          </a:p>
        </p:txBody>
      </p:sp>
      <p:pic>
        <p:nvPicPr>
          <p:cNvPr id="6" name="Image 0" descr="/home/user/workspace/tbl_chart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804672"/>
            <a:ext cx="11795760" cy="57424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533"/>
          </a:solidFill>
          <a:ln w="12700">
            <a:solidFill>
              <a:srgbClr val="1B25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6601968"/>
            <a:ext cx="11612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Source: </a:t>
            </a:r>
            <a:pPr indent="0" marL="0">
              <a:buNone/>
            </a:pPr>
            <a:r>
              <a:rPr lang="en-US" sz="750" u="sng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OMI — Comune di Milano Open Data (CC BY 4.0)</a:t>
            </a:r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| H1 2024 | Abitazioni Civili, Stato NORMALE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B2533"/>
          </a:solidFill>
          <a:ln w="12700">
            <a:solidFill>
              <a:srgbClr val="1B25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10515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Price vs Gross Rental Yield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247120" y="73152"/>
            <a:ext cx="822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1100" dirty="0"/>
          </a:p>
        </p:txBody>
      </p:sp>
      <p:pic>
        <p:nvPicPr>
          <p:cNvPr id="6" name="Image 0" descr="/home/user/workspace/tbl_chart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804672"/>
            <a:ext cx="8778240" cy="57424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89720" y="804672"/>
            <a:ext cx="2788920" cy="5596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281160" y="93268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253728" y="1389888"/>
            <a:ext cx="2606040" cy="1024128"/>
          </a:xfrm>
          <a:prstGeom prst="rect">
            <a:avLst/>
          </a:prstGeom>
          <a:solidFill>
            <a:srgbClr val="F9F9F9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81160" y="1453896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5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-0.55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281160" y="185623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9281160" y="20756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negative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(price↑ yield↓)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9253728" y="2487168"/>
            <a:ext cx="2606040" cy="1024128"/>
          </a:xfrm>
          <a:prstGeom prst="rect">
            <a:avLst/>
          </a:prstGeom>
          <a:solidFill>
            <a:srgbClr val="F9F9F9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281160" y="2551176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9A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4.8%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281160" y="295351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Yield Zone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9281160" y="31729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E6 Ronchetto /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Lorenteggio Est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9253728" y="3584448"/>
            <a:ext cx="2606040" cy="1024128"/>
          </a:xfrm>
          <a:prstGeom prst="rect">
            <a:avLst/>
          </a:prstGeom>
          <a:solidFill>
            <a:srgbClr val="F9F9F9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281160" y="3648456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€9,150/m²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9281160" y="405079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Sale Price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9281160" y="42702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B12 Duomo /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Montenapoleone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9253728" y="4681728"/>
            <a:ext cx="2606040" cy="1024128"/>
          </a:xfrm>
          <a:prstGeom prst="rect">
            <a:avLst/>
          </a:prstGeom>
          <a:solidFill>
            <a:srgbClr val="F9F9F9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281160" y="4745736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6B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€2,050/m²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9281160" y="51480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Affordable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9281160" y="53675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E8 Bruzzano /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Affori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533"/>
          </a:solidFill>
          <a:ln w="12700">
            <a:solidFill>
              <a:srgbClr val="1B253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74320" y="6601968"/>
            <a:ext cx="11612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Source: </a:t>
            </a:r>
            <a:pPr indent="0" marL="0">
              <a:buNone/>
            </a:pPr>
            <a:r>
              <a:rPr lang="en-US" sz="750" u="sng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OMI — Comune di Milano Open Data (CC BY 4.0)</a:t>
            </a:r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| H1 2024 | Abitazioni Civili, Stato NORMALE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533"/>
          </a:solidFill>
          <a:ln w="12700">
            <a:solidFill>
              <a:srgbClr val="1B25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11820"/>
          </a:solidFill>
          <a:ln w="12700">
            <a:solidFill>
              <a:srgbClr val="1118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10515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Price Heatmap — All 39 OMI Zones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247120" y="73152"/>
            <a:ext cx="822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1100" dirty="0"/>
          </a:p>
        </p:txBody>
      </p:sp>
      <p:pic>
        <p:nvPicPr>
          <p:cNvPr id="6" name="Image 0" descr="/home/user/workspace/tbl_chart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804672"/>
            <a:ext cx="11887200" cy="5897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533"/>
          </a:solidFill>
          <a:ln w="12700">
            <a:solidFill>
              <a:srgbClr val="1B25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" y="0"/>
            <a:ext cx="164592" cy="685800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0" y="10972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Milan Housing Market — OMI H1 2024 | 39 Zones Analyzed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444752"/>
            <a:ext cx="5577840" cy="2240280"/>
          </a:xfrm>
          <a:prstGeom prst="rect">
            <a:avLst/>
          </a:prstGeom>
          <a:solidFill>
            <a:srgbClr val="243044"/>
          </a:solidFill>
          <a:ln w="12700">
            <a:solidFill>
              <a:srgbClr val="2F40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444752"/>
            <a:ext cx="64008" cy="224028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7276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158191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 Center–Periphery Gradient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066544"/>
            <a:ext cx="5230368" cy="0"/>
          </a:xfrm>
          <a:prstGeom prst="line">
            <a:avLst/>
          </a:prstGeom>
          <a:noFill/>
          <a:ln w="10160">
            <a:solidFill>
              <a:srgbClr val="3A4D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157984"/>
            <a:ext cx="5230368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zones (Fascia B) average €7,106/m² — 3× the suburban average of €2,319/m². Duomo / Montenapoleone (B12) peaks at €9,150/m², while Bruzzano (E8) is the most affordable at €2,050/m².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3840480"/>
            <a:ext cx="5577840" cy="2240280"/>
          </a:xfrm>
          <a:prstGeom prst="rect">
            <a:avLst/>
          </a:prstGeom>
          <a:solidFill>
            <a:srgbClr val="243044"/>
          </a:solidFill>
          <a:ln w="12700">
            <a:solidFill>
              <a:srgbClr val="2F40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3840480"/>
            <a:ext cx="64008" cy="224028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96849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E7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39776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Yield–Price Relationship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4462272"/>
            <a:ext cx="5230368" cy="0"/>
          </a:xfrm>
          <a:prstGeom prst="line">
            <a:avLst/>
          </a:prstGeom>
          <a:noFill/>
          <a:ln w="10160">
            <a:solidFill>
              <a:srgbClr val="3A4D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553712"/>
            <a:ext cx="5230368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 = −0.55 confirms peripheral zones offer higher gross yields (avg 4.3%) vs central zones (avg 3.7%). Best yield: E6 Ronchetto / Lorenteggio Est at 4.8%.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63640" y="1444752"/>
            <a:ext cx="5577840" cy="2240280"/>
          </a:xfrm>
          <a:prstGeom prst="rect">
            <a:avLst/>
          </a:prstGeom>
          <a:solidFill>
            <a:srgbClr val="243044"/>
          </a:solidFill>
          <a:ln w="12700">
            <a:solidFill>
              <a:srgbClr val="2F40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1444752"/>
            <a:ext cx="64008" cy="2240280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157276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6B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49440" y="158191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Nuova Regeneration Premium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46520" y="2066544"/>
            <a:ext cx="5230368" cy="0"/>
          </a:xfrm>
          <a:prstGeom prst="line">
            <a:avLst/>
          </a:prstGeom>
          <a:noFill/>
          <a:ln w="10160">
            <a:solidFill>
              <a:srgbClr val="3A4D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2157984"/>
            <a:ext cx="5230368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C14 (Porta Nuova) commands a significant premium within Fascia C at €5,050/m² — the highest-ranking semi-central zone after C12 (€6,000/m²), reflecting urban regeneration uplift.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63640" y="3840480"/>
            <a:ext cx="5577840" cy="2240280"/>
          </a:xfrm>
          <a:prstGeom prst="rect">
            <a:avLst/>
          </a:prstGeom>
          <a:solidFill>
            <a:srgbClr val="243044"/>
          </a:solidFill>
          <a:ln w="12700">
            <a:solidFill>
              <a:srgbClr val="2F40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63640" y="3840480"/>
            <a:ext cx="64008" cy="2240280"/>
          </a:xfrm>
          <a:prstGeom prst="rect">
            <a:avLst/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396849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9A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949440" y="39776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Market Compression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46520" y="4462272"/>
            <a:ext cx="5230368" cy="0"/>
          </a:xfrm>
          <a:prstGeom prst="line">
            <a:avLst/>
          </a:prstGeom>
          <a:noFill/>
          <a:ln w="10160">
            <a:solidFill>
              <a:srgbClr val="3A4D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4553712"/>
            <a:ext cx="5230368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per m²/month ranges €8.4 (suburban) to €21.7 (central). Rent grows slower than sale prices toward the center — explaining higher gross yields in peripheral zones.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" y="6492240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mhmd gholami  |  BSc Business Administration — Ca' Foscari  |  github.com/mhmdgholami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2026-06-17T11:59:58Z</dcterms:created>
  <dcterms:modified xsi:type="dcterms:W3CDTF">2026-06-17T11:59:58Z</dcterms:modified>
</cp:coreProperties>
</file>